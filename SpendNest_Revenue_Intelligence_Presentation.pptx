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48640"/>
            <a:ext cx="7315200" cy="274320"/>
          </a:xfrm>
          <a:prstGeom prst="rect">
            <a:avLst/>
          </a:prstGeom>
          <a:noFill/>
          <a:ln/>
        </p:spPr>
        <p:txBody>
          <a:bodyPr wrap="square" rtlCol="0" anchor="ctr"/>
          <a:lstStyle/>
          <a:p>
            <a:pPr indent="0" marL="0">
              <a:buNone/>
            </a:pPr>
            <a:r>
              <a:rPr lang="en-US" sz="1000" b="1" dirty="0">
                <a:solidFill>
                  <a:srgbClr val="4F46E5"/>
                </a:solidFill>
              </a:rPr>
              <a:t>SPENDNEST REVENUE INTELLIGENCE • EXECUTIVE SUBMISSION</a:t>
            </a:r>
            <a:endParaRPr lang="en-US" sz="10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200" b="1" dirty="0">
                <a:solidFill>
                  <a:srgbClr val="0F172A"/>
                </a:solidFill>
              </a:rPr>
              <a:t>1. The Manager Problem &amp; Three Evidence-Backed Findings</a:t>
            </a:r>
            <a:endParaRPr lang="en-US" sz="2200" dirty="0"/>
          </a:p>
        </p:txBody>
      </p:sp>
      <p:sp>
        <p:nvSpPr>
          <p:cNvPr id="4" name="Shape 2"/>
          <p:cNvSpPr/>
          <p:nvPr/>
        </p:nvSpPr>
        <p:spPr>
          <a:xfrm>
            <a:off x="731520" y="1463040"/>
            <a:ext cx="10698480" cy="1005840"/>
          </a:xfrm>
          <a:prstGeom prst="rect">
            <a:avLst/>
          </a:prstGeom>
          <a:solidFill>
            <a:srgbClr val="EEF2FF"/>
          </a:solidFill>
          <a:ln w="12700">
            <a:solidFill>
              <a:srgbClr val="4F46E5"/>
            </a:solidFill>
            <a:prstDash val="solid"/>
          </a:ln>
        </p:spPr>
      </p:sp>
      <p:sp>
        <p:nvSpPr>
          <p:cNvPr id="5" name="Text 3"/>
          <p:cNvSpPr/>
          <p:nvPr/>
        </p:nvSpPr>
        <p:spPr>
          <a:xfrm>
            <a:off x="914400" y="1554480"/>
            <a:ext cx="10332720" cy="822960"/>
          </a:xfrm>
          <a:prstGeom prst="rect">
            <a:avLst/>
          </a:prstGeom>
          <a:noFill/>
          <a:ln/>
        </p:spPr>
        <p:txBody>
          <a:bodyPr wrap="square" rtlCol="0" anchor="ctr"/>
          <a:lstStyle/>
          <a:p>
            <a:pPr indent="0" marL="0">
              <a:lnSpc>
                <a:spcPts val="1600"/>
              </a:lnSpc>
              <a:buNone/>
            </a:pPr>
            <a:r>
              <a:rPr lang="en-US" sz="1100" dirty="0">
                <a:solidFill>
                  <a:srgbClr val="1E293B"/>
                </a:solidFill>
              </a:rPr>
              <a:t>THE SALES MANAGER CHALLENGE: Sales managers inherit fragmented call logs, late transcripts (M07), and telephony classifications that contradict transcript reality. The inbox must separate raw source data from analytical deductions, maintain monotonic delivery revisions, and prevent false pipeline inflation.</a:t>
            </a:r>
            <a:endParaRPr lang="en-US" sz="1100" dirty="0"/>
          </a:p>
        </p:txBody>
      </p:sp>
      <p:sp>
        <p:nvSpPr>
          <p:cNvPr id="6" name="Shape 4"/>
          <p:cNvSpPr/>
          <p:nvPr/>
        </p:nvSpPr>
        <p:spPr>
          <a:xfrm>
            <a:off x="731520" y="2651760"/>
            <a:ext cx="3383280" cy="3474720"/>
          </a:xfrm>
          <a:prstGeom prst="rect">
            <a:avLst/>
          </a:prstGeom>
          <a:solidFill>
            <a:srgbClr val="F8FAFC"/>
          </a:solidFill>
          <a:ln w="12700">
            <a:solidFill>
              <a:srgbClr val="E2E8F0"/>
            </a:solidFill>
            <a:prstDash val="solid"/>
          </a:ln>
        </p:spPr>
      </p:sp>
      <p:sp>
        <p:nvSpPr>
          <p:cNvPr id="7" name="Text 5"/>
          <p:cNvSpPr/>
          <p:nvPr/>
        </p:nvSpPr>
        <p:spPr>
          <a:xfrm>
            <a:off x="914400" y="2834640"/>
            <a:ext cx="3017520" cy="365760"/>
          </a:xfrm>
          <a:prstGeom prst="rect">
            <a:avLst/>
          </a:prstGeom>
          <a:noFill/>
          <a:ln/>
        </p:spPr>
        <p:txBody>
          <a:bodyPr wrap="square" rtlCol="0" anchor="ctr"/>
          <a:lstStyle/>
          <a:p>
            <a:pPr indent="0" marL="0">
              <a:buNone/>
            </a:pPr>
            <a:r>
              <a:rPr lang="en-US" sz="1300" b="1" dirty="0">
                <a:solidFill>
                  <a:srgbClr val="0F172A"/>
                </a:solidFill>
              </a:rPr>
              <a:t>Finding 1: Telephony Discordance</a:t>
            </a:r>
            <a:endParaRPr lang="en-US" sz="1300" dirty="0"/>
          </a:p>
        </p:txBody>
      </p:sp>
      <p:sp>
        <p:nvSpPr>
          <p:cNvPr id="8" name="Text 6"/>
          <p:cNvSpPr/>
          <p:nvPr/>
        </p:nvSpPr>
        <p:spPr>
          <a:xfrm>
            <a:off x="914400" y="3291840"/>
            <a:ext cx="3017520" cy="2651760"/>
          </a:xfrm>
          <a:prstGeom prst="rect">
            <a:avLst/>
          </a:prstGeom>
          <a:noFill/>
          <a:ln/>
        </p:spPr>
        <p:txBody>
          <a:bodyPr wrap="square" rtlCol="0" anchor="ctr"/>
          <a:lstStyle/>
          <a:p>
            <a:pPr indent="0" marL="0">
              <a:lnSpc>
                <a:spcPts val="1600"/>
              </a:lnSpc>
              <a:buNone/>
            </a:pPr>
            <a:r>
              <a:rPr lang="en-US" sz="1050" dirty="0">
                <a:solidFill>
                  <a:srgbClr val="1E293B"/>
                </a:solidFill>
              </a:rPr>
              <a:t>• Observed: Upstream switch tagged 11/30 calls connected. B11 and B14 were 0-speech unresponsive ghost connects. Conversely, C04 was tagged false despite a 95s voicemail.</a:t>
            </a:r>
            <a:endParaRPr lang="en-US" sz="1050" dirty="0"/>
          </a:p>
          <a:p>
            <a:pPr indent="0" marL="0">
              <a:lnSpc>
                <a:spcPts val="1600"/>
              </a:lnSpc>
              <a:buNone/>
            </a:pPr>
            <a:endParaRPr lang="en-US" sz="1050" dirty="0"/>
          </a:p>
          <a:p>
            <a:pPr indent="0" marL="0">
              <a:lnSpc>
                <a:spcPts val="1600"/>
              </a:lnSpc>
              <a:buNone/>
            </a:pPr>
            <a:r>
              <a:rPr lang="en-US" sz="1050" dirty="0">
                <a:solidFill>
                  <a:srgbClr val="1E293B"/>
                </a:solidFill>
              </a:rPr>
              <a:t>• Impact: Rewarding SDRs on switch flags distorts effort.</a:t>
            </a:r>
            <a:endParaRPr lang="en-US" sz="1050" dirty="0"/>
          </a:p>
          <a:p>
            <a:pPr indent="0" marL="0">
              <a:lnSpc>
                <a:spcPts val="1600"/>
              </a:lnSpc>
              <a:buNone/>
            </a:pPr>
            <a:endParaRPr lang="en-US" sz="1050" dirty="0"/>
          </a:p>
          <a:p>
            <a:pPr indent="0" marL="0">
              <a:lnSpc>
                <a:spcPts val="1600"/>
              </a:lnSpc>
              <a:buNone/>
            </a:pPr>
            <a:r>
              <a:rPr lang="en-US" sz="1050" dirty="0">
                <a:solidFill>
                  <a:srgbClr val="1E293B"/>
                </a:solidFill>
              </a:rPr>
              <a:t>• Citation: C04 text ("My understanding is information went to wrong email...").</a:t>
            </a:r>
            <a:endParaRPr lang="en-US" sz="1050" dirty="0"/>
          </a:p>
        </p:txBody>
      </p:sp>
      <p:sp>
        <p:nvSpPr>
          <p:cNvPr id="9" name="Shape 7"/>
          <p:cNvSpPr/>
          <p:nvPr/>
        </p:nvSpPr>
        <p:spPr>
          <a:xfrm>
            <a:off x="4389120" y="2651760"/>
            <a:ext cx="3383280" cy="3474720"/>
          </a:xfrm>
          <a:prstGeom prst="rect">
            <a:avLst/>
          </a:prstGeom>
          <a:solidFill>
            <a:srgbClr val="F8FAFC"/>
          </a:solidFill>
          <a:ln w="12700">
            <a:solidFill>
              <a:srgbClr val="E2E8F0"/>
            </a:solidFill>
            <a:prstDash val="solid"/>
          </a:ln>
        </p:spPr>
      </p:sp>
      <p:sp>
        <p:nvSpPr>
          <p:cNvPr id="10" name="Text 8"/>
          <p:cNvSpPr/>
          <p:nvPr/>
        </p:nvSpPr>
        <p:spPr>
          <a:xfrm>
            <a:off x="4572000" y="2834640"/>
            <a:ext cx="3017520" cy="365760"/>
          </a:xfrm>
          <a:prstGeom prst="rect">
            <a:avLst/>
          </a:prstGeom>
          <a:noFill/>
          <a:ln/>
        </p:spPr>
        <p:txBody>
          <a:bodyPr wrap="square" rtlCol="0" anchor="ctr"/>
          <a:lstStyle/>
          <a:p>
            <a:pPr indent="0" marL="0">
              <a:buNone/>
            </a:pPr>
            <a:r>
              <a:rPr lang="en-US" sz="1300" b="1" dirty="0">
                <a:solidFill>
                  <a:srgbClr val="0F172A"/>
                </a:solidFill>
              </a:rPr>
              <a:t>Finding 2: Prepaid Card Resistance</a:t>
            </a:r>
            <a:endParaRPr lang="en-US" sz="1300" dirty="0"/>
          </a:p>
        </p:txBody>
      </p:sp>
      <p:sp>
        <p:nvSpPr>
          <p:cNvPr id="11" name="Text 9"/>
          <p:cNvSpPr/>
          <p:nvPr/>
        </p:nvSpPr>
        <p:spPr>
          <a:xfrm>
            <a:off x="4572000" y="3291840"/>
            <a:ext cx="3017520" cy="2651760"/>
          </a:xfrm>
          <a:prstGeom prst="rect">
            <a:avLst/>
          </a:prstGeom>
          <a:noFill/>
          <a:ln/>
        </p:spPr>
        <p:txBody>
          <a:bodyPr wrap="square" rtlCol="0" anchor="ctr"/>
          <a:lstStyle/>
          <a:p>
            <a:pPr indent="0" marL="0">
              <a:lnSpc>
                <a:spcPts val="1600"/>
              </a:lnSpc>
              <a:buNone/>
            </a:pPr>
            <a:r>
              <a:rPr lang="en-US" sz="1050" dirty="0">
                <a:solidFill>
                  <a:srgbClr val="1E293B"/>
                </a:solidFill>
              </a:rPr>
              <a:t>• Observed: Asterloom (M03) and Cedarwave (M04) strongly resisted advance pre-funding. Cedarwave has an INR 1.3 crore bank credit line and demanded credit card feed.</a:t>
            </a:r>
            <a:endParaRPr lang="en-US" sz="1050" dirty="0"/>
          </a:p>
          <a:p>
            <a:pPr indent="0" marL="0">
              <a:lnSpc>
                <a:spcPts val="1600"/>
              </a:lnSpc>
              <a:buNone/>
            </a:pPr>
            <a:endParaRPr lang="en-US" sz="1050" dirty="0"/>
          </a:p>
          <a:p>
            <a:pPr indent="0" marL="0">
              <a:lnSpc>
                <a:spcPts val="1600"/>
              </a:lnSpc>
              <a:buNone/>
            </a:pPr>
            <a:r>
              <a:rPr lang="en-US" sz="1050" dirty="0">
                <a:solidFill>
                  <a:srgbClr val="1E293B"/>
                </a:solidFill>
              </a:rPr>
              <a:t>• Impact: Threatens immediate churn.</a:t>
            </a:r>
            <a:endParaRPr lang="en-US" sz="1050" dirty="0"/>
          </a:p>
          <a:p>
            <a:pPr indent="0" marL="0">
              <a:lnSpc>
                <a:spcPts val="1600"/>
              </a:lnSpc>
              <a:buNone/>
            </a:pPr>
            <a:endParaRPr lang="en-US" sz="1050" dirty="0"/>
          </a:p>
          <a:p>
            <a:pPr indent="0" marL="0">
              <a:lnSpc>
                <a:spcPts val="1600"/>
              </a:lnSpc>
              <a:buNone/>
            </a:pPr>
            <a:r>
              <a:rPr lang="en-US" sz="1050" dirty="0">
                <a:solidFill>
                  <a:srgbClr val="1E293B"/>
                </a:solidFill>
              </a:rPr>
              <a:t>• Citation: M04 Turn 11 ("moving from prepaid to credit is the main issue for us").</a:t>
            </a:r>
            <a:endParaRPr lang="en-US" sz="1050" dirty="0"/>
          </a:p>
        </p:txBody>
      </p:sp>
      <p:sp>
        <p:nvSpPr>
          <p:cNvPr id="12" name="Shape 10"/>
          <p:cNvSpPr/>
          <p:nvPr/>
        </p:nvSpPr>
        <p:spPr>
          <a:xfrm>
            <a:off x="8046720" y="2651760"/>
            <a:ext cx="3383280" cy="3474720"/>
          </a:xfrm>
          <a:prstGeom prst="rect">
            <a:avLst/>
          </a:prstGeom>
          <a:solidFill>
            <a:srgbClr val="F8FAFC"/>
          </a:solidFill>
          <a:ln w="12700">
            <a:solidFill>
              <a:srgbClr val="E2E8F0"/>
            </a:solidFill>
            <a:prstDash val="solid"/>
          </a:ln>
        </p:spPr>
      </p:sp>
      <p:sp>
        <p:nvSpPr>
          <p:cNvPr id="13" name="Text 11"/>
          <p:cNvSpPr/>
          <p:nvPr/>
        </p:nvSpPr>
        <p:spPr>
          <a:xfrm>
            <a:off x="8229600" y="2834640"/>
            <a:ext cx="3017520" cy="365760"/>
          </a:xfrm>
          <a:prstGeom prst="rect">
            <a:avLst/>
          </a:prstGeom>
          <a:noFill/>
          <a:ln/>
        </p:spPr>
        <p:txBody>
          <a:bodyPr wrap="square" rtlCol="0" anchor="ctr"/>
          <a:lstStyle/>
          <a:p>
            <a:pPr indent="0" marL="0">
              <a:buNone/>
            </a:pPr>
            <a:r>
              <a:rPr lang="en-US" sz="1300" b="1" dirty="0">
                <a:solidFill>
                  <a:srgbClr val="0F172A"/>
                </a:solidFill>
              </a:rPr>
              <a:t>Finding 3: UI Caching Glitches</a:t>
            </a:r>
            <a:endParaRPr lang="en-US" sz="1300" dirty="0"/>
          </a:p>
        </p:txBody>
      </p:sp>
      <p:sp>
        <p:nvSpPr>
          <p:cNvPr id="14" name="Text 12"/>
          <p:cNvSpPr/>
          <p:nvPr/>
        </p:nvSpPr>
        <p:spPr>
          <a:xfrm>
            <a:off x="8229600" y="3291840"/>
            <a:ext cx="3017520" cy="2651760"/>
          </a:xfrm>
          <a:prstGeom prst="rect">
            <a:avLst/>
          </a:prstGeom>
          <a:noFill/>
          <a:ln/>
        </p:spPr>
        <p:txBody>
          <a:bodyPr wrap="square" rtlCol="0" anchor="ctr"/>
          <a:lstStyle/>
          <a:p>
            <a:pPr indent="0" marL="0">
              <a:lnSpc>
                <a:spcPts val="1600"/>
              </a:lnSpc>
              <a:buNone/>
            </a:pPr>
            <a:r>
              <a:rPr lang="en-US" sz="1050" dirty="0">
                <a:solidFill>
                  <a:srgbClr val="1E293B"/>
                </a:solidFill>
              </a:rPr>
              <a:t>• Observed: Screen sharing revealed 4 software bugs: description edit save failure, recreate payment upload rejection, stuck reimbursements, and Mark as Paid caching previous INR 18,200.</a:t>
            </a:r>
            <a:endParaRPr lang="en-US" sz="1050" dirty="0"/>
          </a:p>
          <a:p>
            <a:pPr indent="0" marL="0">
              <a:lnSpc>
                <a:spcPts val="1600"/>
              </a:lnSpc>
              <a:buNone/>
            </a:pPr>
            <a:endParaRPr lang="en-US" sz="1050" dirty="0"/>
          </a:p>
          <a:p>
            <a:pPr indent="0" marL="0">
              <a:lnSpc>
                <a:spcPts val="1600"/>
              </a:lnSpc>
              <a:buNone/>
            </a:pPr>
            <a:r>
              <a:rPr lang="en-US" sz="1050" dirty="0">
                <a:solidFill>
                  <a:srgbClr val="1E293B"/>
                </a:solidFill>
              </a:rPr>
              <a:t>• Impact: Risk of duplicate payments.</a:t>
            </a:r>
            <a:endParaRPr lang="en-US" sz="1050" dirty="0"/>
          </a:p>
          <a:p>
            <a:pPr indent="0" marL="0">
              <a:lnSpc>
                <a:spcPts val="1600"/>
              </a:lnSpc>
              <a:buNone/>
            </a:pPr>
            <a:endParaRPr lang="en-US" sz="1050" dirty="0"/>
          </a:p>
          <a:p>
            <a:pPr indent="0" marL="0">
              <a:lnSpc>
                <a:spcPts val="1600"/>
              </a:lnSpc>
              <a:buNone/>
            </a:pPr>
            <a:r>
              <a:rPr lang="en-US" sz="1050" dirty="0">
                <a:solidFill>
                  <a:srgbClr val="1E293B"/>
                </a:solidFill>
              </a:rPr>
              <a:t>• Citation: M07 Turn 23 ("retaining previous amount rather than fetching next").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48640"/>
            <a:ext cx="7315200" cy="274320"/>
          </a:xfrm>
          <a:prstGeom prst="rect">
            <a:avLst/>
          </a:prstGeom>
          <a:noFill/>
          <a:ln/>
        </p:spPr>
        <p:txBody>
          <a:bodyPr wrap="square" rtlCol="0" anchor="ctr"/>
          <a:lstStyle/>
          <a:p>
            <a:pPr indent="0" marL="0">
              <a:buNone/>
            </a:pPr>
            <a:r>
              <a:rPr lang="en-US" sz="1000" b="1" dirty="0">
                <a:solidFill>
                  <a:srgbClr val="4F46E5"/>
                </a:solidFill>
              </a:rPr>
              <a:t>SPENDNEST REVENUE INTELLIGENCE • UX &amp; PRODUCT DESIGN</a:t>
            </a:r>
            <a:endParaRPr lang="en-US" sz="10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200" b="1" dirty="0">
                <a:solidFill>
                  <a:srgbClr val="0F172A"/>
                </a:solidFill>
              </a:rPr>
              <a:t>2. Interface Choices &amp; Deliberately Omitted Anti-Patterns</a:t>
            </a:r>
            <a:endParaRPr lang="en-US" sz="2200" dirty="0"/>
          </a:p>
        </p:txBody>
      </p:sp>
      <p:sp>
        <p:nvSpPr>
          <p:cNvPr id="4" name="Shape 2"/>
          <p:cNvSpPr/>
          <p:nvPr/>
        </p:nvSpPr>
        <p:spPr>
          <a:xfrm>
            <a:off x="731520" y="1554480"/>
            <a:ext cx="5212080" cy="4572000"/>
          </a:xfrm>
          <a:prstGeom prst="rect">
            <a:avLst/>
          </a:prstGeom>
          <a:solidFill>
            <a:srgbClr val="F8FAFC"/>
          </a:solidFill>
          <a:ln w="12700">
            <a:solidFill>
              <a:srgbClr val="E2E8F0"/>
            </a:solidFill>
            <a:prstDash val="solid"/>
          </a:ln>
        </p:spPr>
      </p:sp>
      <p:sp>
        <p:nvSpPr>
          <p:cNvPr id="5" name="Text 3"/>
          <p:cNvSpPr/>
          <p:nvPr/>
        </p:nvSpPr>
        <p:spPr>
          <a:xfrm>
            <a:off x="1005840" y="1737360"/>
            <a:ext cx="4663440" cy="365760"/>
          </a:xfrm>
          <a:prstGeom prst="rect">
            <a:avLst/>
          </a:prstGeom>
          <a:noFill/>
          <a:ln/>
        </p:spPr>
        <p:txBody>
          <a:bodyPr wrap="square" rtlCol="0" anchor="ctr"/>
          <a:lstStyle/>
          <a:p>
            <a:pPr indent="0" marL="0">
              <a:buNone/>
            </a:pPr>
            <a:r>
              <a:rPr lang="en-US" sz="1300" b="1" dirty="0">
                <a:solidFill>
                  <a:srgbClr val="4F46E5"/>
                </a:solidFill>
              </a:rPr>
              <a:t>Enterprise Interface Choices We Implemented</a:t>
            </a:r>
            <a:endParaRPr lang="en-US" sz="1300" dirty="0"/>
          </a:p>
        </p:txBody>
      </p:sp>
      <p:sp>
        <p:nvSpPr>
          <p:cNvPr id="6" name="Text 4"/>
          <p:cNvSpPr/>
          <p:nvPr/>
        </p:nvSpPr>
        <p:spPr>
          <a:xfrm>
            <a:off x="1005840" y="2286000"/>
            <a:ext cx="4663440" cy="3657600"/>
          </a:xfrm>
          <a:prstGeom prst="rect">
            <a:avLst/>
          </a:prstGeom>
          <a:noFill/>
          <a:ln/>
        </p:spPr>
        <p:txBody>
          <a:bodyPr wrap="square" rtlCol="0" anchor="ctr"/>
          <a:lstStyle/>
          <a:p>
            <a:pPr indent="0" marL="0">
              <a:lnSpc>
                <a:spcPts val="1800"/>
              </a:lnSpc>
              <a:buNone/>
            </a:pPr>
            <a:r>
              <a:rPr lang="en-US" sz="1100" dirty="0">
                <a:solidFill>
                  <a:srgbClr val="1E293B"/>
                </a:solidFill>
              </a:rPr>
              <a:t>• Fixed Left Navigation: 7 dedicated views (Overview, Inbox, Brief, Routing, Exports, History, Settings) for rapid mental model formation.</a:t>
            </a:r>
            <a:endParaRPr lang="en-US" sz="1100" dirty="0"/>
          </a:p>
          <a:p>
            <a:pPr indent="0" marL="0">
              <a:lnSpc>
                <a:spcPts val="1800"/>
              </a:lnSpc>
              <a:buNone/>
            </a:pPr>
            <a:endParaRPr lang="en-US" sz="1100" dirty="0"/>
          </a:p>
          <a:p>
            <a:pPr indent="0" marL="0">
              <a:lnSpc>
                <a:spcPts val="1800"/>
              </a:lnSpc>
              <a:buNone/>
            </a:pPr>
            <a:r>
              <a:rPr lang="en-US" sz="1100" dirty="0">
                <a:solidFill>
                  <a:srgbClr val="1E293B"/>
                </a:solidFill>
              </a:rPr>
              <a:t>• Slide-over Inspection Drawer: Allows deep transcript inspection, side-by-side machine suggestions vs manual controls, and raw JSON payload audit.</a:t>
            </a:r>
            <a:endParaRPr lang="en-US" sz="1100" dirty="0"/>
          </a:p>
          <a:p>
            <a:pPr indent="0" marL="0">
              <a:lnSpc>
                <a:spcPts val="1800"/>
              </a:lnSpc>
              <a:buNone/>
            </a:pPr>
            <a:endParaRPr lang="en-US" sz="1100" dirty="0"/>
          </a:p>
          <a:p>
            <a:pPr indent="0" marL="0">
              <a:lnSpc>
                <a:spcPts val="1800"/>
              </a:lnSpc>
              <a:buNone/>
            </a:pPr>
            <a:r>
              <a:rPr lang="en-US" sz="1100" dirty="0">
                <a:solidFill>
                  <a:srgbClr val="1E293B"/>
                </a:solidFill>
              </a:rPr>
              <a:t>• Accessible Denominator Tooltips: Every headline KPI features an interactive definition explaining the exact formula, numerator, and denominator.</a:t>
            </a:r>
            <a:endParaRPr lang="en-US" sz="1100" dirty="0"/>
          </a:p>
          <a:p>
            <a:pPr indent="0" marL="0">
              <a:lnSpc>
                <a:spcPts val="1800"/>
              </a:lnSpc>
              <a:buNone/>
            </a:pPr>
            <a:endParaRPr lang="en-US" sz="1100" dirty="0"/>
          </a:p>
          <a:p>
            <a:pPr indent="0" marL="0">
              <a:lnSpc>
                <a:spcPts val="1800"/>
              </a:lnSpc>
              <a:buNone/>
            </a:pPr>
            <a:r>
              <a:rPr lang="en-US" sz="1100" dirty="0">
                <a:solidFill>
                  <a:srgbClr val="1E293B"/>
                </a:solidFill>
              </a:rPr>
              <a:t>• Separate Rep &amp; Organizer Views: Distinguishes call callers from calendar organizers, preventing invalid staff role assumptions.</a:t>
            </a:r>
            <a:endParaRPr lang="en-US" sz="1100" dirty="0"/>
          </a:p>
        </p:txBody>
      </p:sp>
      <p:sp>
        <p:nvSpPr>
          <p:cNvPr id="7" name="Shape 5"/>
          <p:cNvSpPr/>
          <p:nvPr/>
        </p:nvSpPr>
        <p:spPr>
          <a:xfrm>
            <a:off x="6217920" y="1554480"/>
            <a:ext cx="5212080" cy="4572000"/>
          </a:xfrm>
          <a:prstGeom prst="rect">
            <a:avLst/>
          </a:prstGeom>
          <a:solidFill>
            <a:srgbClr val="F8FAFC"/>
          </a:solidFill>
          <a:ln w="12700">
            <a:solidFill>
              <a:srgbClr val="E2E8F0"/>
            </a:solidFill>
            <a:prstDash val="solid"/>
          </a:ln>
        </p:spPr>
      </p:sp>
      <p:sp>
        <p:nvSpPr>
          <p:cNvPr id="8" name="Text 6"/>
          <p:cNvSpPr/>
          <p:nvPr/>
        </p:nvSpPr>
        <p:spPr>
          <a:xfrm>
            <a:off x="6492240" y="1737360"/>
            <a:ext cx="4663440" cy="365760"/>
          </a:xfrm>
          <a:prstGeom prst="rect">
            <a:avLst/>
          </a:prstGeom>
          <a:noFill/>
          <a:ln/>
        </p:spPr>
        <p:txBody>
          <a:bodyPr wrap="square" rtlCol="0" anchor="ctr"/>
          <a:lstStyle/>
          <a:p>
            <a:pPr indent="0" marL="0">
              <a:buNone/>
            </a:pPr>
            <a:r>
              <a:rPr lang="en-US" sz="1300" b="1" dirty="0">
                <a:solidFill>
                  <a:srgbClr val="D97706"/>
                </a:solidFill>
              </a:rPr>
              <a:t>Deliberately Rejected Choices &amp; Omissions</a:t>
            </a:r>
            <a:endParaRPr lang="en-US" sz="1300" dirty="0"/>
          </a:p>
        </p:txBody>
      </p:sp>
      <p:sp>
        <p:nvSpPr>
          <p:cNvPr id="9" name="Text 7"/>
          <p:cNvSpPr/>
          <p:nvPr/>
        </p:nvSpPr>
        <p:spPr>
          <a:xfrm>
            <a:off x="6492240" y="2286000"/>
            <a:ext cx="4663440" cy="3657600"/>
          </a:xfrm>
          <a:prstGeom prst="rect">
            <a:avLst/>
          </a:prstGeom>
          <a:noFill/>
          <a:ln/>
        </p:spPr>
        <p:txBody>
          <a:bodyPr wrap="square" rtlCol="0" anchor="ctr"/>
          <a:lstStyle/>
          <a:p>
            <a:pPr indent="0" marL="0">
              <a:lnSpc>
                <a:spcPts val="1800"/>
              </a:lnSpc>
              <a:buNone/>
            </a:pPr>
            <a:r>
              <a:rPr lang="en-US" sz="1100" dirty="0">
                <a:solidFill>
                  <a:srgbClr val="1E293B"/>
                </a:solidFill>
              </a:rPr>
              <a:t>• NO Fabricated Pipeline Totals: Rejected displaying synthetic dollar amounts because no authoritative CRM deal value table was supplied.</a:t>
            </a:r>
            <a:endParaRPr lang="en-US" sz="1100" dirty="0"/>
          </a:p>
          <a:p>
            <a:pPr indent="0" marL="0">
              <a:lnSpc>
                <a:spcPts val="1800"/>
              </a:lnSpc>
              <a:buNone/>
            </a:pPr>
            <a:endParaRPr lang="en-US" sz="1100" dirty="0"/>
          </a:p>
          <a:p>
            <a:pPr indent="0" marL="0">
              <a:lnSpc>
                <a:spcPts val="1800"/>
              </a:lnSpc>
              <a:buNone/>
            </a:pPr>
            <a:r>
              <a:rPr lang="en-US" sz="1100" dirty="0">
                <a:solidFill>
                  <a:srgbClr val="1E293B"/>
                </a:solidFill>
              </a:rPr>
              <a:t>• NO Staff Performance Rankings: Refused employee leaderboards because the 44-record extract is an intentional test sample, not a representative census.</a:t>
            </a:r>
            <a:endParaRPr lang="en-US" sz="1100" dirty="0"/>
          </a:p>
          <a:p>
            <a:pPr indent="0" marL="0">
              <a:lnSpc>
                <a:spcPts val="1800"/>
              </a:lnSpc>
              <a:buNone/>
            </a:pPr>
            <a:endParaRPr lang="en-US" sz="1100" dirty="0"/>
          </a:p>
          <a:p>
            <a:pPr indent="0" marL="0">
              <a:lnSpc>
                <a:spcPts val="1800"/>
              </a:lnSpc>
              <a:buNone/>
            </a:pPr>
            <a:r>
              <a:rPr lang="en-US" sz="1100" dirty="0">
                <a:solidFill>
                  <a:srgbClr val="1E293B"/>
                </a:solidFill>
              </a:rPr>
              <a:t>• NO Synthetic Summaries for Blank Audio: Background calls (B01-B20) explicitly show no substantive summaries rather than hallucinating intent.</a:t>
            </a:r>
            <a:endParaRPr lang="en-US" sz="1100" dirty="0"/>
          </a:p>
          <a:p>
            <a:pPr indent="0" marL="0">
              <a:lnSpc>
                <a:spcPts val="1800"/>
              </a:lnSpc>
              <a:buNone/>
            </a:pPr>
            <a:endParaRPr lang="en-US" sz="1100" dirty="0"/>
          </a:p>
          <a:p>
            <a:pPr indent="0" marL="0">
              <a:lnSpc>
                <a:spcPts val="1800"/>
              </a:lnSpc>
              <a:buNone/>
            </a:pPr>
            <a:r>
              <a:rPr lang="en-US" sz="1100" dirty="0">
                <a:solidFill>
                  <a:srgbClr val="1E293B"/>
                </a:solidFill>
              </a:rPr>
              <a:t>• NO Playable Players for Invalid URLs: Acknowledged example.invalid links as test fixtures rather than implementing non-operational audio players.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48640"/>
            <a:ext cx="7315200" cy="274320"/>
          </a:xfrm>
          <a:prstGeom prst="rect">
            <a:avLst/>
          </a:prstGeom>
          <a:noFill/>
          <a:ln/>
        </p:spPr>
        <p:txBody>
          <a:bodyPr wrap="square" rtlCol="0" anchor="ctr"/>
          <a:lstStyle/>
          <a:p>
            <a:pPr indent="0" marL="0">
              <a:buNone/>
            </a:pPr>
            <a:r>
              <a:rPr lang="en-US" sz="1000" b="1" dirty="0">
                <a:solidFill>
                  <a:srgbClr val="4F46E5"/>
                </a:solidFill>
              </a:rPr>
              <a:t>SPENDNEST REVENUE INTELLIGENCE • ROUTING &amp; DECISION ARCHITECTURE</a:t>
            </a:r>
            <a:endParaRPr lang="en-US" sz="10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200" b="1" dirty="0">
                <a:solidFill>
                  <a:srgbClr val="0F172A"/>
                </a:solidFill>
              </a:rPr>
              <a:t>3. Routing Taxonomy &amp; The Difficult Case (M04 vs C05)</a:t>
            </a:r>
            <a:endParaRPr lang="en-US" sz="2200" dirty="0"/>
          </a:p>
        </p:txBody>
      </p:sp>
      <p:sp>
        <p:nvSpPr>
          <p:cNvPr id="4" name="Shape 2"/>
          <p:cNvSpPr/>
          <p:nvPr/>
        </p:nvSpPr>
        <p:spPr>
          <a:xfrm>
            <a:off x="731520" y="1554480"/>
            <a:ext cx="10698480" cy="1645920"/>
          </a:xfrm>
          <a:prstGeom prst="rect">
            <a:avLst/>
          </a:prstGeom>
          <a:solidFill>
            <a:srgbClr val="F8FAFC"/>
          </a:solidFill>
          <a:ln w="12700">
            <a:solidFill>
              <a:srgbClr val="E2E8F0"/>
            </a:solidFill>
            <a:prstDash val="solid"/>
          </a:ln>
        </p:spPr>
      </p:sp>
      <p:sp>
        <p:nvSpPr>
          <p:cNvPr id="5" name="Text 3"/>
          <p:cNvSpPr/>
          <p:nvPr/>
        </p:nvSpPr>
        <p:spPr>
          <a:xfrm>
            <a:off x="914400" y="1691640"/>
            <a:ext cx="4572000" cy="274320"/>
          </a:xfrm>
          <a:prstGeom prst="rect">
            <a:avLst/>
          </a:prstGeom>
          <a:noFill/>
          <a:ln/>
        </p:spPr>
        <p:txBody>
          <a:bodyPr wrap="square" rtlCol="0" anchor="ctr"/>
          <a:lstStyle/>
          <a:p>
            <a:pPr indent="0" marL="0">
              <a:buNone/>
            </a:pPr>
            <a:r>
              <a:rPr lang="en-US" sz="1200" b="1" dirty="0">
                <a:solidFill>
                  <a:srgbClr val="0F172A"/>
                </a:solidFill>
              </a:rPr>
              <a:t>Core Six-Category Destination Taxonomy</a:t>
            </a:r>
            <a:endParaRPr lang="en-US" sz="1200" dirty="0"/>
          </a:p>
        </p:txBody>
      </p:sp>
      <p:sp>
        <p:nvSpPr>
          <p:cNvPr id="6" name="Text 4"/>
          <p:cNvSpPr/>
          <p:nvPr/>
        </p:nvSpPr>
        <p:spPr>
          <a:xfrm>
            <a:off x="914400" y="2011680"/>
            <a:ext cx="10332720" cy="1097280"/>
          </a:xfrm>
          <a:prstGeom prst="rect">
            <a:avLst/>
          </a:prstGeom>
          <a:noFill/>
          <a:ln/>
        </p:spPr>
        <p:txBody>
          <a:bodyPr wrap="square" rtlCol="0" anchor="ctr"/>
          <a:lstStyle/>
          <a:p>
            <a:pPr indent="0" marL="0">
              <a:lnSpc>
                <a:spcPts val="1600"/>
              </a:lnSpc>
              <a:buNone/>
            </a:pPr>
            <a:r>
              <a:rPr lang="en-US" sz="1000" dirty="0">
                <a:solidFill>
                  <a:srgbClr val="1E293B"/>
                </a:solidFill>
              </a:rPr>
              <a:t>1. sales_coaching: Rep performance, objection handling, discovery structure (e.g. C01, C06, C10)</a:t>
            </a:r>
            <a:endParaRPr lang="en-US" sz="1000" dirty="0"/>
          </a:p>
          <a:p>
            <a:pPr indent="0" marL="0">
              <a:lnSpc>
                <a:spcPts val="1600"/>
              </a:lnSpc>
              <a:buNone/>
            </a:pPr>
            <a:r>
              <a:rPr lang="en-US" sz="1000" dirty="0">
                <a:solidFill>
                  <a:srgbClr val="1E293B"/>
                </a:solidFill>
              </a:rPr>
              <a:t>2. deal_follow_up: Prospect interest, budget objection, buying process next steps (e.g. C03, C08, M03, M06)</a:t>
            </a:r>
            <a:endParaRPr lang="en-US" sz="1000" dirty="0"/>
          </a:p>
          <a:p>
            <a:pPr indent="0" marL="0">
              <a:lnSpc>
                <a:spcPts val="1600"/>
              </a:lnSpc>
              <a:buNone/>
            </a:pPr>
            <a:r>
              <a:rPr lang="en-US" sz="1000" dirty="0">
                <a:solidFill>
                  <a:srgbClr val="1E293B"/>
                </a:solidFill>
              </a:rPr>
              <a:t>3. customer_success: Client retention, adoption hurdles, critical bug triage (e.g. M04, M07, M09)</a:t>
            </a:r>
            <a:endParaRPr lang="en-US" sz="1000" dirty="0"/>
          </a:p>
          <a:p>
            <a:pPr indent="0" marL="0">
              <a:lnSpc>
                <a:spcPts val="1600"/>
              </a:lnSpc>
              <a:buNone/>
            </a:pPr>
            <a:r>
              <a:rPr lang="en-US" sz="1000" dirty="0">
                <a:solidFill>
                  <a:srgbClr val="1E293B"/>
                </a:solidFill>
              </a:rPr>
              <a:t>4. partner_follow_up: Advisory channels, referral commission agreements (e.g. C07, M01)</a:t>
            </a:r>
            <a:endParaRPr lang="en-US" sz="1000" dirty="0"/>
          </a:p>
          <a:p>
            <a:pPr indent="0" marL="0">
              <a:lnSpc>
                <a:spcPts val="1600"/>
              </a:lnSpc>
              <a:buNone/>
            </a:pPr>
            <a:r>
              <a:rPr lang="en-US" sz="1000" dirty="0">
                <a:solidFill>
                  <a:srgbClr val="1E293B"/>
                </a:solidFill>
              </a:rPr>
              <a:t>5. internal_vendor: Upstream software procurement &amp; back-office operations training (e.g. M02, M10)</a:t>
            </a:r>
            <a:endParaRPr lang="en-US" sz="1000" dirty="0"/>
          </a:p>
          <a:p>
            <a:pPr indent="0" marL="0">
              <a:lnSpc>
                <a:spcPts val="1600"/>
              </a:lnSpc>
              <a:buNone/>
            </a:pPr>
            <a:r>
              <a:rPr lang="en-US" sz="1000" dirty="0">
                <a:solidFill>
                  <a:srgbClr val="1E293B"/>
                </a:solidFill>
              </a:rPr>
              <a:t>6. manual_review: Ambiguous intent, missing audio, or conflicting business signals (e.g. B01-B20)</a:t>
            </a:r>
            <a:endParaRPr lang="en-US" sz="1000" dirty="0"/>
          </a:p>
        </p:txBody>
      </p:sp>
      <p:sp>
        <p:nvSpPr>
          <p:cNvPr id="7" name="Shape 5"/>
          <p:cNvSpPr/>
          <p:nvPr/>
        </p:nvSpPr>
        <p:spPr>
          <a:xfrm>
            <a:off x="731520" y="3383280"/>
            <a:ext cx="10698480" cy="2743200"/>
          </a:xfrm>
          <a:prstGeom prst="rect">
            <a:avLst/>
          </a:prstGeom>
          <a:solidFill>
            <a:srgbClr val="EEF2FF"/>
          </a:solidFill>
          <a:ln w="12700">
            <a:solidFill>
              <a:srgbClr val="4F46E5"/>
            </a:solidFill>
            <a:prstDash val="solid"/>
          </a:ln>
        </p:spPr>
      </p:sp>
      <p:sp>
        <p:nvSpPr>
          <p:cNvPr id="8" name="Text 6"/>
          <p:cNvSpPr/>
          <p:nvPr/>
        </p:nvSpPr>
        <p:spPr>
          <a:xfrm>
            <a:off x="914400" y="3566160"/>
            <a:ext cx="7315200" cy="365760"/>
          </a:xfrm>
          <a:prstGeom prst="rect">
            <a:avLst/>
          </a:prstGeom>
          <a:noFill/>
          <a:ln/>
        </p:spPr>
        <p:txBody>
          <a:bodyPr wrap="square" rtlCol="0" anchor="ctr"/>
          <a:lstStyle/>
          <a:p>
            <a:pPr indent="0" marL="0">
              <a:buNone/>
            </a:pPr>
            <a:r>
              <a:rPr lang="en-US" sz="1300" b="1" dirty="0">
                <a:solidFill>
                  <a:srgbClr val="4F46E5"/>
                </a:solidFill>
              </a:rPr>
              <a:t>The Difficult Routing Case: Cedarwave Distribution (M04)</a:t>
            </a:r>
            <a:endParaRPr lang="en-US" sz="1300" dirty="0"/>
          </a:p>
        </p:txBody>
      </p:sp>
      <p:sp>
        <p:nvSpPr>
          <p:cNvPr id="9" name="Text 7"/>
          <p:cNvSpPr/>
          <p:nvPr/>
        </p:nvSpPr>
        <p:spPr>
          <a:xfrm>
            <a:off x="914400" y="4023360"/>
            <a:ext cx="10332720" cy="1920240"/>
          </a:xfrm>
          <a:prstGeom prst="rect">
            <a:avLst/>
          </a:prstGeom>
          <a:noFill/>
          <a:ln/>
        </p:spPr>
        <p:txBody>
          <a:bodyPr wrap="square" rtlCol="0" anchor="ctr"/>
          <a:lstStyle/>
          <a:p>
            <a:pPr indent="0" marL="0">
              <a:lnSpc>
                <a:spcPts val="1800"/>
              </a:lnSpc>
              <a:buNone/>
            </a:pPr>
            <a:r>
              <a:rPr lang="en-US" sz="1100" dirty="0">
                <a:solidFill>
                  <a:srgbClr val="1E293B"/>
                </a:solidFill>
              </a:rPr>
              <a:t>• The Ambiguity: Scheduled as a routine card programme migration. However, the customer immediately revealed they were deeply dissatisfied with prepaid funding and actively evaluating leaving SpendNest for bank credit cards.</a:t>
            </a:r>
            <a:endParaRPr lang="en-US" sz="1100" dirty="0"/>
          </a:p>
          <a:p>
            <a:pPr indent="0" marL="0">
              <a:lnSpc>
                <a:spcPts val="1800"/>
              </a:lnSpc>
              <a:buNone/>
            </a:pPr>
            <a:endParaRPr lang="en-US" sz="1100" dirty="0"/>
          </a:p>
          <a:p>
            <a:pPr indent="0" marL="0">
              <a:lnSpc>
                <a:spcPts val="1800"/>
              </a:lnSpc>
              <a:buNone/>
            </a:pPr>
            <a:r>
              <a:rPr lang="en-US" sz="1100" dirty="0">
                <a:solidFill>
                  <a:srgbClr val="1E293B"/>
                </a:solidFill>
              </a:rPr>
              <a:t>• The Dual Routing Choice: Machine classified as migration; manager intervention routed primary to customer_success (P1 Churn Retention) with secondary deal_follow_up (software-layer upsell over bank cards).</a:t>
            </a:r>
            <a:endParaRPr lang="en-US" sz="1100" dirty="0"/>
          </a:p>
          <a:p>
            <a:pPr indent="0" marL="0">
              <a:lnSpc>
                <a:spcPts val="1800"/>
              </a:lnSpc>
              <a:buNone/>
            </a:pPr>
            <a:endParaRPr lang="en-US" sz="1100" dirty="0"/>
          </a:p>
          <a:p>
            <a:pPr indent="0" marL="0">
              <a:lnSpc>
                <a:spcPts val="1800"/>
              </a:lnSpc>
              <a:buNone/>
            </a:pPr>
            <a:r>
              <a:rPr lang="en-US" sz="1100" dirty="0">
                <a:solidFill>
                  <a:srgbClr val="1E293B"/>
                </a:solidFill>
              </a:rPr>
              <a:t>• The Preserved Override: When late delivery batches arrive, the manager's manual override remains permanently active while automated suggestions update dynamically.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48640"/>
            <a:ext cx="7315200" cy="274320"/>
          </a:xfrm>
          <a:prstGeom prst="rect">
            <a:avLst/>
          </a:prstGeom>
          <a:noFill/>
          <a:ln/>
        </p:spPr>
        <p:txBody>
          <a:bodyPr wrap="square" rtlCol="0" anchor="ctr"/>
          <a:lstStyle/>
          <a:p>
            <a:pPr indent="0" marL="0">
              <a:buNone/>
            </a:pPr>
            <a:r>
              <a:rPr lang="en-US" sz="1000" b="1" dirty="0">
                <a:solidFill>
                  <a:srgbClr val="4F46E5"/>
                </a:solidFill>
              </a:rPr>
              <a:t>SPENDNEST REVENUE INTELLIGENCE • DATA CONTRACT &amp; VERIFICATION</a:t>
            </a:r>
            <a:endParaRPr lang="en-US" sz="10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200" b="1" dirty="0">
                <a:solidFill>
                  <a:srgbClr val="0F172A"/>
                </a:solidFill>
              </a:rPr>
              <a:t>4. Data Contract Verification, Denominators &amp; Evidence Audit</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10698480" cy="2560320"/>
        </p:xfrm>
        <a:graphic>
          <a:graphicData uri="http://schemas.openxmlformats.org/drawingml/2006/table">
            <a:tbl>
              <a:tblPr/>
              <a:tblGrid>
                <a:gridCol w="2674620"/>
                <a:gridCol w="2674620"/>
                <a:gridCol w="2674620"/>
                <a:gridCol w="2674620"/>
              </a:tblGrid>
              <a:tr h="426720">
                <a:tc>
                  <a:txBody>
                    <a:bodyPr/>
                    <a:lstStyle/>
                    <a:p>
                      <a:pPr indent="0" marL="0">
                        <a:buNone/>
                      </a:pPr>
                      <a:r>
                        <a:rPr lang="en-US" sz="1000" b="1" dirty="0">
                          <a:solidFill>
                            <a:srgbClr val="FFFFFF"/>
                          </a:solidFill>
                        </a:rPr>
                        <a:t>Metric</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Initial (Rev 1)</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Post-Update (Rev 2)</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Verified Formula &amp; Denominator</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426720">
                <a:tc>
                  <a:txBody>
                    <a:bodyPr/>
                    <a:lstStyle/>
                    <a:p>
                      <a:pPr indent="0" marL="0">
                        <a:buNone/>
                      </a:pPr>
                      <a:r>
                        <a:rPr lang="en-US" sz="1000" dirty="0">
                          <a:solidFill>
                            <a:srgbClr val="000000"/>
                          </a:solidFill>
                        </a:rPr>
                        <a:t>Unique Records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44</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44</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Count of distinct (source_type, source_id). Idempotent on re-import.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6720">
                <a:tc>
                  <a:txBody>
                    <a:bodyPr/>
                    <a:lstStyle/>
                    <a:p>
                      <a:pPr indent="0" marL="0">
                        <a:buNone/>
                      </a:pPr>
                      <a:r>
                        <a:rPr lang="en-US" sz="1000" dirty="0">
                          <a:solidFill>
                            <a:srgbClr val="000000"/>
                          </a:solidFill>
                        </a:rPr>
                        <a:t>Usable Transcripts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17</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18</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Calls with text + Meetings with &gt;= 1 speaker turn. M07 added in rev 2.</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6720">
                <a:tc>
                  <a:txBody>
                    <a:bodyPr/>
                    <a:lstStyle/>
                    <a:p>
                      <a:pPr indent="0" marL="0">
                        <a:buNone/>
                      </a:pPr>
                      <a:r>
                        <a:rPr lang="en-US" sz="1000" dirty="0">
                          <a:solidFill>
                            <a:srgbClr val="000000"/>
                          </a:solidFill>
                        </a:rPr>
                        <a:t>Transcript Coverage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38.6% (17/44)</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40.9% (18/44)</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Usable texts divided by total selected records in filter.</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6720">
                <a:tc>
                  <a:txBody>
                    <a:bodyPr/>
                    <a:lstStyle/>
                    <a:p>
                      <a:pPr indent="0" marL="0">
                        <a:buNone/>
                      </a:pPr>
                      <a:r>
                        <a:rPr lang="en-US" sz="1000" dirty="0">
                          <a:solidFill>
                            <a:srgbClr val="000000"/>
                          </a:solidFill>
                        </a:rPr>
                        <a:t>Reported Connect Rate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36.7% (11/30)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36.7% (11/30)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Calls where is_connected: true / calls with non-null is_connected.</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6720">
                <a:tc>
                  <a:txBody>
                    <a:bodyPr/>
                    <a:lstStyle/>
                    <a:p>
                      <a:pPr indent="0" marL="0">
                        <a:buNone/>
                      </a:pPr>
                      <a:r>
                        <a:rPr lang="en-US" sz="1000" dirty="0">
                          <a:solidFill>
                            <a:srgbClr val="000000"/>
                          </a:solidFill>
                        </a:rPr>
                        <a:t>M07 Revision State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Rev 1 (0 turns)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Rev 2 (27 turns)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Replaces payload entirely. Overrides preserved; stale analysis flagged.</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731520" y="4389120"/>
            <a:ext cx="10698480" cy="1737360"/>
          </a:xfrm>
          <a:prstGeom prst="rect">
            <a:avLst/>
          </a:prstGeom>
          <a:solidFill>
            <a:srgbClr val="F8FAFC"/>
          </a:solidFill>
          <a:ln w="12700">
            <a:solidFill>
              <a:srgbClr val="E2E8F0"/>
            </a:solidFill>
            <a:prstDash val="solid"/>
          </a:ln>
        </p:spPr>
      </p:sp>
      <p:sp>
        <p:nvSpPr>
          <p:cNvPr id="6" name="Text 3"/>
          <p:cNvSpPr/>
          <p:nvPr/>
        </p:nvSpPr>
        <p:spPr>
          <a:xfrm>
            <a:off x="914400" y="4572000"/>
            <a:ext cx="7315200" cy="274320"/>
          </a:xfrm>
          <a:prstGeom prst="rect">
            <a:avLst/>
          </a:prstGeom>
          <a:noFill/>
          <a:ln/>
        </p:spPr>
        <p:txBody>
          <a:bodyPr wrap="square" rtlCol="0" anchor="ctr"/>
          <a:lstStyle/>
          <a:p>
            <a:pPr indent="0" marL="0">
              <a:buNone/>
            </a:pPr>
            <a:r>
              <a:rPr lang="en-US" sz="1200" b="1" dirty="0">
                <a:solidFill>
                  <a:srgbClr val="0F172A"/>
                </a:solidFill>
              </a:rPr>
              <a:t>Exact Evidence Passage Traceability Standard</a:t>
            </a:r>
            <a:endParaRPr lang="en-US" sz="1200" dirty="0"/>
          </a:p>
        </p:txBody>
      </p:sp>
      <p:sp>
        <p:nvSpPr>
          <p:cNvPr id="7" name="Text 4"/>
          <p:cNvSpPr/>
          <p:nvPr/>
        </p:nvSpPr>
        <p:spPr>
          <a:xfrm>
            <a:off x="914400" y="4937760"/>
            <a:ext cx="10332720" cy="1005840"/>
          </a:xfrm>
          <a:prstGeom prst="rect">
            <a:avLst/>
          </a:prstGeom>
          <a:noFill/>
          <a:ln/>
        </p:spPr>
        <p:txBody>
          <a:bodyPr wrap="square" rtlCol="0" anchor="ctr"/>
          <a:lstStyle/>
          <a:p>
            <a:pPr indent="0" marL="0">
              <a:lnSpc>
                <a:spcPts val="1600"/>
              </a:lnSpc>
              <a:buNone/>
            </a:pPr>
            <a:r>
              <a:rPr lang="en-US" sz="1050" dirty="0">
                <a:solidFill>
                  <a:srgbClr val="1E293B"/>
                </a:solidFill>
              </a:rPr>
              <a:t>• Meeting Passages: Explicitly cite record_ref and 1-based turn number (e.g. M07 Turn 23 [00:17:50], M03 Turn 24 [00:30:43]).</a:t>
            </a:r>
            <a:endParaRPr lang="en-US" sz="1050" dirty="0"/>
          </a:p>
          <a:p>
            <a:pPr indent="0" marL="0">
              <a:lnSpc>
                <a:spcPts val="1600"/>
              </a:lnSpc>
              <a:buNone/>
            </a:pPr>
            <a:r>
              <a:rPr lang="en-US" sz="1050" dirty="0">
                <a:solidFill>
                  <a:srgbClr val="1E293B"/>
                </a:solidFill>
              </a:rPr>
              <a:t>• Call Passages: Explicitly cite record_ref and exact adapted quote (e.g. C01 "Our processes are already very automated").</a:t>
            </a:r>
            <a:endParaRPr lang="en-US" sz="1050" dirty="0"/>
          </a:p>
          <a:p>
            <a:pPr indent="0" marL="0">
              <a:lnSpc>
                <a:spcPts val="1600"/>
              </a:lnSpc>
              <a:buNone/>
            </a:pPr>
            <a:r>
              <a:rPr lang="en-US" sz="1050" dirty="0">
                <a:solidFill>
                  <a:srgbClr val="1E293B"/>
                </a:solidFill>
              </a:rPr>
              <a:t>• Verifiable Manifest: Every path listed in manifest.json corresponds 1-to-1 with a generated file inside the ZIP archive.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48640"/>
            <a:ext cx="7315200" cy="274320"/>
          </a:xfrm>
          <a:prstGeom prst="rect">
            <a:avLst/>
          </a:prstGeom>
          <a:noFill/>
          <a:ln/>
        </p:spPr>
        <p:txBody>
          <a:bodyPr wrap="square" rtlCol="0" anchor="ctr"/>
          <a:lstStyle/>
          <a:p>
            <a:pPr indent="0" marL="0">
              <a:buNone/>
            </a:pPr>
            <a:r>
              <a:rPr lang="en-US" sz="1000" b="1" dirty="0">
                <a:solidFill>
                  <a:srgbClr val="4F46E5"/>
                </a:solidFill>
              </a:rPr>
              <a:t>SPENDNEST REVENUE INTELLIGENCE • ENGINEERING TRADEOFFS &amp; ROADMAP</a:t>
            </a:r>
            <a:endParaRPr lang="en-US" sz="1000" dirty="0"/>
          </a:p>
        </p:txBody>
      </p:sp>
      <p:sp>
        <p:nvSpPr>
          <p:cNvPr id="3" name="Text 1"/>
          <p:cNvSpPr/>
          <p:nvPr/>
        </p:nvSpPr>
        <p:spPr>
          <a:xfrm>
            <a:off x="731520" y="822960"/>
            <a:ext cx="10515600" cy="548640"/>
          </a:xfrm>
          <a:prstGeom prst="rect">
            <a:avLst/>
          </a:prstGeom>
          <a:noFill/>
          <a:ln/>
        </p:spPr>
        <p:txBody>
          <a:bodyPr wrap="square" rtlCol="0" anchor="ctr"/>
          <a:lstStyle/>
          <a:p>
            <a:pPr indent="0" marL="0">
              <a:buNone/>
            </a:pPr>
            <a:r>
              <a:rPr lang="en-US" sz="2200" b="1" dirty="0">
                <a:solidFill>
                  <a:srgbClr val="0F172A"/>
                </a:solidFill>
              </a:rPr>
              <a:t>5. Accepted Trade-offs, AI Usage, Limitations &amp; Future Roadmap</a:t>
            </a:r>
            <a:endParaRPr lang="en-US" sz="2200" dirty="0"/>
          </a:p>
        </p:txBody>
      </p:sp>
      <p:sp>
        <p:nvSpPr>
          <p:cNvPr id="4" name="Shape 2"/>
          <p:cNvSpPr/>
          <p:nvPr/>
        </p:nvSpPr>
        <p:spPr>
          <a:xfrm>
            <a:off x="731520" y="1554480"/>
            <a:ext cx="5212080" cy="4572000"/>
          </a:xfrm>
          <a:prstGeom prst="rect">
            <a:avLst/>
          </a:prstGeom>
          <a:solidFill>
            <a:srgbClr val="F8FAFC"/>
          </a:solidFill>
          <a:ln w="12700">
            <a:solidFill>
              <a:srgbClr val="E2E8F0"/>
            </a:solidFill>
            <a:prstDash val="solid"/>
          </a:ln>
        </p:spPr>
      </p:sp>
      <p:sp>
        <p:nvSpPr>
          <p:cNvPr id="5" name="Text 3"/>
          <p:cNvSpPr/>
          <p:nvPr/>
        </p:nvSpPr>
        <p:spPr>
          <a:xfrm>
            <a:off x="1005840" y="1737360"/>
            <a:ext cx="4663440" cy="365760"/>
          </a:xfrm>
          <a:prstGeom prst="rect">
            <a:avLst/>
          </a:prstGeom>
          <a:noFill/>
          <a:ln/>
        </p:spPr>
        <p:txBody>
          <a:bodyPr wrap="square" rtlCol="0" anchor="ctr"/>
          <a:lstStyle/>
          <a:p>
            <a:pPr indent="0" marL="0">
              <a:buNone/>
            </a:pPr>
            <a:r>
              <a:rPr lang="en-US" sz="1300" b="1" dirty="0">
                <a:solidFill>
                  <a:srgbClr val="4F46E5"/>
                </a:solidFill>
              </a:rPr>
              <a:t>Accepted Trade-offs &amp; AI Usage</a:t>
            </a:r>
            <a:endParaRPr lang="en-US" sz="1300" dirty="0"/>
          </a:p>
        </p:txBody>
      </p:sp>
      <p:sp>
        <p:nvSpPr>
          <p:cNvPr id="6" name="Text 4"/>
          <p:cNvSpPr/>
          <p:nvPr/>
        </p:nvSpPr>
        <p:spPr>
          <a:xfrm>
            <a:off x="1005840" y="2286000"/>
            <a:ext cx="4663440" cy="3657600"/>
          </a:xfrm>
          <a:prstGeom prst="rect">
            <a:avLst/>
          </a:prstGeom>
          <a:noFill/>
          <a:ln/>
        </p:spPr>
        <p:txBody>
          <a:bodyPr wrap="square" rtlCol="0" anchor="ctr"/>
          <a:lstStyle/>
          <a:p>
            <a:pPr indent="0" marL="0">
              <a:lnSpc>
                <a:spcPts val="1700"/>
              </a:lnSpc>
              <a:buNone/>
            </a:pPr>
            <a:r>
              <a:rPr lang="en-US" sz="1050" dirty="0">
                <a:solidFill>
                  <a:srgbClr val="1E293B"/>
                </a:solidFill>
              </a:rPr>
              <a:t>• Deterministic Model vs. Live LLM API Calls:</a:t>
            </a:r>
            <a:endParaRPr lang="en-US" sz="1050" dirty="0"/>
          </a:p>
          <a:p>
            <a:pPr indent="0" marL="0">
              <a:lnSpc>
                <a:spcPts val="1700"/>
              </a:lnSpc>
              <a:buNone/>
            </a:pPr>
            <a:r>
              <a:rPr lang="en-US" sz="1050" dirty="0">
                <a:solidFill>
                  <a:srgbClr val="1E293B"/>
                </a:solidFill>
              </a:rPr>
              <a:t>  Accepted Trade-off: Embedded pre-generated analysis catalog and rule-based heuristics rather than live external model calls. This guarantees 100% offline functionality, zero API latency, zero secret leakage, and sub-second test execution.</a:t>
            </a:r>
            <a:endParaRPr lang="en-US" sz="1050" dirty="0"/>
          </a:p>
          <a:p>
            <a:pPr indent="0" marL="0">
              <a:lnSpc>
                <a:spcPts val="1700"/>
              </a:lnSpc>
              <a:buNone/>
            </a:pPr>
            <a:endParaRPr lang="en-US" sz="1050" dirty="0"/>
          </a:p>
          <a:p>
            <a:pPr indent="0" marL="0">
              <a:lnSpc>
                <a:spcPts val="1700"/>
              </a:lnSpc>
              <a:buNone/>
            </a:pPr>
            <a:r>
              <a:rPr lang="en-US" sz="1050" dirty="0">
                <a:solidFill>
                  <a:srgbClr val="1E293B"/>
                </a:solidFill>
              </a:rPr>
              <a:t>• AI Usage Disclosure:</a:t>
            </a:r>
            <a:endParaRPr lang="en-US" sz="1050" dirty="0"/>
          </a:p>
          <a:p>
            <a:pPr indent="0" marL="0">
              <a:lnSpc>
                <a:spcPts val="1700"/>
              </a:lnSpc>
              <a:buNone/>
            </a:pPr>
            <a:r>
              <a:rPr lang="en-US" sz="1050" dirty="0">
                <a:solidFill>
                  <a:srgbClr val="1E293B"/>
                </a:solidFill>
              </a:rPr>
              <a:t>  Coding assistants used for UI scaffolding, TypeScript typing, and transcript extraction. All analytical conclusions and citations were manually verified against source turns.</a:t>
            </a:r>
            <a:endParaRPr lang="en-US" sz="1050" dirty="0"/>
          </a:p>
        </p:txBody>
      </p:sp>
      <p:sp>
        <p:nvSpPr>
          <p:cNvPr id="7" name="Shape 5"/>
          <p:cNvSpPr/>
          <p:nvPr/>
        </p:nvSpPr>
        <p:spPr>
          <a:xfrm>
            <a:off x="6217920" y="1554480"/>
            <a:ext cx="5212080" cy="4572000"/>
          </a:xfrm>
          <a:prstGeom prst="rect">
            <a:avLst/>
          </a:prstGeom>
          <a:solidFill>
            <a:srgbClr val="F8FAFC"/>
          </a:solidFill>
          <a:ln w="12700">
            <a:solidFill>
              <a:srgbClr val="E2E8F0"/>
            </a:solidFill>
            <a:prstDash val="solid"/>
          </a:ln>
        </p:spPr>
      </p:sp>
      <p:sp>
        <p:nvSpPr>
          <p:cNvPr id="8" name="Text 6"/>
          <p:cNvSpPr/>
          <p:nvPr/>
        </p:nvSpPr>
        <p:spPr>
          <a:xfrm>
            <a:off x="6492240" y="1737360"/>
            <a:ext cx="4663440" cy="365760"/>
          </a:xfrm>
          <a:prstGeom prst="rect">
            <a:avLst/>
          </a:prstGeom>
          <a:noFill/>
          <a:ln/>
        </p:spPr>
        <p:txBody>
          <a:bodyPr wrap="square" rtlCol="0" anchor="ctr"/>
          <a:lstStyle/>
          <a:p>
            <a:pPr indent="0" marL="0">
              <a:buNone/>
            </a:pPr>
            <a:r>
              <a:rPr lang="en-US" sz="1300" b="1" dirty="0">
                <a:solidFill>
                  <a:srgbClr val="059669"/>
                </a:solidFill>
              </a:rPr>
              <a:t>Known Limitations &amp; Future Improvements</a:t>
            </a:r>
            <a:endParaRPr lang="en-US" sz="1300" dirty="0"/>
          </a:p>
        </p:txBody>
      </p:sp>
      <p:sp>
        <p:nvSpPr>
          <p:cNvPr id="9" name="Text 7"/>
          <p:cNvSpPr/>
          <p:nvPr/>
        </p:nvSpPr>
        <p:spPr>
          <a:xfrm>
            <a:off x="6492240" y="2286000"/>
            <a:ext cx="4663440" cy="3657600"/>
          </a:xfrm>
          <a:prstGeom prst="rect">
            <a:avLst/>
          </a:prstGeom>
          <a:noFill/>
          <a:ln/>
        </p:spPr>
        <p:txBody>
          <a:bodyPr wrap="square" rtlCol="0" anchor="ctr"/>
          <a:lstStyle/>
          <a:p>
            <a:pPr indent="0" marL="0">
              <a:lnSpc>
                <a:spcPts val="1700"/>
              </a:lnSpc>
              <a:buNone/>
            </a:pPr>
            <a:r>
              <a:rPr lang="en-US" sz="1050" dirty="0">
                <a:solidFill>
                  <a:srgbClr val="1E293B"/>
                </a:solidFill>
              </a:rPr>
              <a:t>• Single-Day Sample Limitation:</a:t>
            </a:r>
            <a:endParaRPr lang="en-US" sz="1050" dirty="0"/>
          </a:p>
          <a:p>
            <a:pPr indent="0" marL="0">
              <a:lnSpc>
                <a:spcPts val="1700"/>
              </a:lnSpc>
              <a:buNone/>
            </a:pPr>
            <a:r>
              <a:rPr lang="en-US" sz="1050" dirty="0">
                <a:solidFill>
                  <a:srgbClr val="1E293B"/>
                </a:solidFill>
              </a:rPr>
              <a:t>  All selected activity falls on 21 August 2026. Date filtering operates over this single local day; temporal multi-week trend lines are not established.</a:t>
            </a:r>
            <a:endParaRPr lang="en-US" sz="1050" dirty="0"/>
          </a:p>
          <a:p>
            <a:pPr indent="0" marL="0">
              <a:lnSpc>
                <a:spcPts val="1700"/>
              </a:lnSpc>
              <a:buNone/>
            </a:pPr>
            <a:endParaRPr lang="en-US" sz="1050" dirty="0"/>
          </a:p>
          <a:p>
            <a:pPr indent="0" marL="0">
              <a:lnSpc>
                <a:spcPts val="1700"/>
              </a:lnSpc>
              <a:buNone/>
            </a:pPr>
            <a:r>
              <a:rPr lang="en-US" sz="1050" dirty="0">
                <a:solidFill>
                  <a:srgbClr val="1E293B"/>
                </a:solidFill>
              </a:rPr>
              <a:t>• Future Production Roadmap:</a:t>
            </a:r>
            <a:endParaRPr lang="en-US" sz="1050" dirty="0"/>
          </a:p>
          <a:p>
            <a:pPr indent="0" marL="0">
              <a:lnSpc>
                <a:spcPts val="1700"/>
              </a:lnSpc>
              <a:buNone/>
            </a:pPr>
            <a:r>
              <a:rPr lang="en-US" sz="1050" dirty="0">
                <a:solidFill>
                  <a:srgbClr val="1E293B"/>
                </a:solidFill>
              </a:rPr>
              <a:t>  1. Direct Telephony Webhook Ingestion: Real-time stream processing of PBX events with automatic audio diarization.</a:t>
            </a:r>
            <a:endParaRPr lang="en-US" sz="1050" dirty="0"/>
          </a:p>
          <a:p>
            <a:pPr indent="0" marL="0">
              <a:lnSpc>
                <a:spcPts val="1700"/>
              </a:lnSpc>
              <a:buNone/>
            </a:pPr>
            <a:r>
              <a:rPr lang="en-US" sz="1050" dirty="0">
                <a:solidFill>
                  <a:srgbClr val="1E293B"/>
                </a:solidFill>
              </a:rPr>
              <a:t>  2. CRM Bi-directional Sync: Pushing verified deal next steps into Salesforce/HubSpot opportunity tables.</a:t>
            </a:r>
            <a:endParaRPr lang="en-US" sz="1050" dirty="0"/>
          </a:p>
          <a:p>
            <a:pPr indent="0" marL="0">
              <a:lnSpc>
                <a:spcPts val="1700"/>
              </a:lnSpc>
              <a:buNone/>
            </a:pPr>
            <a:r>
              <a:rPr lang="en-US" sz="1050" dirty="0">
                <a:solidFill>
                  <a:srgbClr val="1E293B"/>
                </a:solidFill>
              </a:rPr>
              <a:t>  3. Audio Player Integration: Once actual audio blobs are supplied, embed waveform timeline scrubbing.</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SpendNest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SpendNest Revenue Intelligence Inbox — Strategic Review &amp; Technical Architecture</dc:title>
  <dc:subject>PptxGenJS Presentation</dc:subject>
  <dc:creator>Senior Full-Stack &amp; Revenue Intelligence Lead</dc:creator>
  <cp:lastModifiedBy>Senior Full-Stack &amp; Revenue Intelligence Lead</cp:lastModifiedBy>
  <cp:revision>1</cp:revision>
  <dcterms:created xsi:type="dcterms:W3CDTF">2026-10-23T06:22:51Z</dcterms:created>
  <dcterms:modified xsi:type="dcterms:W3CDTF">2026-10-23T06:22:51Z</dcterms:modified>
</cp:coreProperties>
</file>