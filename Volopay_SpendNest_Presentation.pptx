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pendNest" id="{60523bf2-1c79-cc03-5a22-a351340aeed2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manager problem: with 44 calls and meetings in one day, which ones need action and which numbers can be trusted. Three findings: the telephony connect rate is not ground truth, the prepaid model collides with credit-line buyers, and form-caching bugs put payment accuracy at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Overview puts verified operational numbers first and explains each denominator. A pipeline forecast and rep leaderboard were deliberately left out because the data has no CRM table or staff directory to support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functional routes, each with its own export folder. M04 was booked as a routine migration, but the transcript shows churn risk tied to prepaid funding, so the primary route is Customer Success with Deal Follow-up as secondary.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check: 11 of 30 calls carry is_connected true, but two of those had no speech and one voicemail was tagged false, so the dashboard labels the metric as source-reported. Conclusion check: M07 turn 23 shows the Mark as Paid form retaining a previous amount, which is an engineering defect rather than a training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required replay steps. These results are asserted by the project's Vitest suite (15 tests) and match the README replay table: 44 records stay 44, usable transcripts go from 17 to 18, the M07 manual route survives Rev 2, and re-importing Rev 1 does not roll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slide: the main trade-off is determinism and offline portability over live AI, and credibility over a flashy forecast. Known limits are the single-day dataset, placeholder audio URLs and no CRM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SPENDNEST  |  REVENUE INTELLIGENCE INBOX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Which of 44 conversations needs a manager today?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30 calls and 14 meetings from 21 August 2026, sorted into six traceable routes.</a:t>
            </a:r>
            <a:endParaRPr lang="en-US" sz="1500" dirty="0"/>
          </a:p>
        </p:txBody>
      </p:sp>
      <p:sp>
        <p:nvSpPr>
          <p:cNvPr id="5" name="Finding 1 card"/>
          <p:cNvSpPr/>
          <p:nvPr/>
        </p:nvSpPr>
        <p:spPr>
          <a:xfrm>
            <a:off x="457200" y="242316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Finding 1 badge"/>
          <p:cNvSpPr/>
          <p:nvPr/>
        </p:nvSpPr>
        <p:spPr>
          <a:xfrm>
            <a:off x="640080" y="260604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632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Switch says 36.7% connected, yet 2 of those 11 were silent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9319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B11 and B14 had zero speech. C04 was a real voicemail tagged not connected.</a:t>
            </a:r>
            <a:endParaRPr lang="en-US" sz="1200" dirty="0"/>
          </a:p>
        </p:txBody>
      </p:sp>
      <p:sp>
        <p:nvSpPr>
          <p:cNvPr id="10" name="Finding 2 card"/>
          <p:cNvSpPr/>
          <p:nvPr/>
        </p:nvSpPr>
        <p:spPr>
          <a:xfrm>
            <a:off x="3291840" y="242316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Finding 2 badge"/>
          <p:cNvSpPr/>
          <p:nvPr/>
        </p:nvSpPr>
        <p:spPr>
          <a:xfrm>
            <a:off x="3474720" y="260604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0632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Prepaid cards clash with buyers who hold a credit line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9319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M03 turn 6, M04 turns 11 and 22: INR 1.3 crore credit line, churn risk.</a:t>
            </a:r>
            <a:endParaRPr lang="en-US" sz="1200" dirty="0"/>
          </a:p>
        </p:txBody>
      </p:sp>
      <p:sp>
        <p:nvSpPr>
          <p:cNvPr id="15" name="Finding 3 card"/>
          <p:cNvSpPr/>
          <p:nvPr/>
        </p:nvSpPr>
        <p:spPr>
          <a:xfrm>
            <a:off x="6126480" y="242316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Finding 3 badge"/>
          <p:cNvSpPr/>
          <p:nvPr/>
        </p:nvSpPr>
        <p:spPr>
          <a:xfrm>
            <a:off x="6309360" y="260604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0632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UI caching bugs risk wrong payment amounts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9319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M07 turn 23: Mark as Paid kept INR 18,200. M09 turn 21: fresh token expired.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Interface built for triage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Chosen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Overview leads with verified KPIs and shows every denominator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Seven workspaces: inbox, routing review, brief, exports, import history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Manager decisions sit beside machine suggestions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Left out on purpose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5661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Pipeline INR forecast and rep leaderboard: no CRM data to back them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Live LLM calls: offline and deterministic instead</a:t>
            </a:r>
            <a:endParaRPr lang="en-US" sz="1400" dirty="0"/>
          </a:p>
        </p:txBody>
      </p:sp>
      <p:sp>
        <p:nvSpPr>
          <p:cNvPr id="7" name="Overview dashboard screenshot frame"/>
          <p:cNvSpPr/>
          <p:nvPr/>
        </p:nvSpPr>
        <p:spPr>
          <a:xfrm>
            <a:off x="4288536" y="1225296"/>
            <a:ext cx="4453128" cy="2825496"/>
          </a:xfrm>
          <a:prstGeom prst="roundRect">
            <a:avLst>
              <a:gd name="adj" fmla="val 25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Overview dashboard screenshot" descr="Overview dashbo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280160"/>
            <a:ext cx="4343400" cy="27157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343400" y="4160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Overview: 44 records, 40.9% transcript coverage, 36.7% source-reported connect rate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Routing and folder design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Six routes, one export folder each</a:t>
            </a:r>
            <a:endParaRPr lang="en-US" sz="1600" dirty="0"/>
          </a:p>
        </p:txBody>
      </p:sp>
      <p:sp>
        <p:nvSpPr>
          <p:cNvPr id="4" name="Sales coaching dot"/>
          <p:cNvSpPr/>
          <p:nvPr/>
        </p:nvSpPr>
        <p:spPr>
          <a:xfrm>
            <a:off x="457200" y="1627632"/>
            <a:ext cx="137160" cy="1371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Sales coaching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15544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sales_coaching/</a:t>
            </a:r>
            <a:endParaRPr lang="en-US" sz="1200" dirty="0"/>
          </a:p>
        </p:txBody>
      </p:sp>
      <p:sp>
        <p:nvSpPr>
          <p:cNvPr id="7" name="Deal follow-up dot"/>
          <p:cNvSpPr/>
          <p:nvPr/>
        </p:nvSpPr>
        <p:spPr>
          <a:xfrm>
            <a:off x="457200" y="1920240"/>
            <a:ext cx="137160" cy="137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47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Deal follow-up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18470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deal_follow_up/</a:t>
            </a:r>
            <a:endParaRPr lang="en-US" sz="1200" dirty="0"/>
          </a:p>
        </p:txBody>
      </p:sp>
      <p:sp>
        <p:nvSpPr>
          <p:cNvPr id="10" name="Customer success dot"/>
          <p:cNvSpPr/>
          <p:nvPr/>
        </p:nvSpPr>
        <p:spPr>
          <a:xfrm>
            <a:off x="457200" y="2212848"/>
            <a:ext cx="137160" cy="1371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1396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Customer success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213969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customer_success/</a:t>
            </a:r>
            <a:endParaRPr lang="en-US" sz="1200" dirty="0"/>
          </a:p>
        </p:txBody>
      </p:sp>
      <p:sp>
        <p:nvSpPr>
          <p:cNvPr id="13" name="Partner follow-up dot"/>
          <p:cNvSpPr/>
          <p:nvPr/>
        </p:nvSpPr>
        <p:spPr>
          <a:xfrm>
            <a:off x="457200" y="2505456"/>
            <a:ext cx="137160" cy="1371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4323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Partner follow-up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24323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partner_follow_up/</a:t>
            </a:r>
            <a:endParaRPr lang="en-US" sz="1200" dirty="0"/>
          </a:p>
        </p:txBody>
      </p:sp>
      <p:sp>
        <p:nvSpPr>
          <p:cNvPr id="16" name="Internal / vendor dot"/>
          <p:cNvSpPr/>
          <p:nvPr/>
        </p:nvSpPr>
        <p:spPr>
          <a:xfrm>
            <a:off x="457200" y="2798064"/>
            <a:ext cx="137160" cy="1371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724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Internal / vendor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514600" y="27249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internal_vendor/</a:t>
            </a:r>
            <a:endParaRPr lang="en-US" sz="1200" dirty="0"/>
          </a:p>
        </p:txBody>
      </p:sp>
      <p:sp>
        <p:nvSpPr>
          <p:cNvPr id="19" name="Manual review dot"/>
          <p:cNvSpPr/>
          <p:nvPr/>
        </p:nvSpPr>
        <p:spPr>
          <a:xfrm>
            <a:off x="457200" y="3090672"/>
            <a:ext cx="137160" cy="1371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Manual review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514600" y="3017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manual_review/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337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Multi-route records are written to every matching folder.</a:t>
            </a:r>
            <a:endParaRPr lang="en-US" sz="1200" dirty="0"/>
          </a:p>
        </p:txBody>
      </p:sp>
      <p:sp>
        <p:nvSpPr>
          <p:cNvPr id="23" name="Hard case card"/>
          <p:cNvSpPr/>
          <p:nvPr/>
        </p:nvSpPr>
        <p:spPr>
          <a:xfrm>
            <a:off x="457200" y="3749040"/>
            <a:ext cx="41148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7947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Hard case, M04 Cedarwave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Booked as a card migration, but the customer called prepaid the main issue and cited an INR 1.3 crore credit line. Routed to Customer Success, then Deal Follow-up.</a:t>
            </a:r>
            <a:endParaRPr lang="en-US" sz="1300" dirty="0"/>
          </a:p>
        </p:txBody>
      </p:sp>
      <p:sp>
        <p:nvSpPr>
          <p:cNvPr id="25" name="Routing review screenshot frame"/>
          <p:cNvSpPr/>
          <p:nvPr/>
        </p:nvSpPr>
        <p:spPr>
          <a:xfrm>
            <a:off x="4882896" y="1179576"/>
            <a:ext cx="3858768" cy="2962656"/>
          </a:xfrm>
          <a:prstGeom prst="roundRect">
            <a:avLst>
              <a:gd name="adj" fmla="val 246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Routing review screenshot" descr="Routing review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852928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4937760" y="4206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Machine suggestion beside the manager decision; overrides save per record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Checking a number and a 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11 / 30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65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calls tagged connected by the phone switch (36.7%)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1460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Denominator: 30 calls with a flag, 0 unknown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B11, B14: transcripts show zero speech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C04: 95-second voicemail, tagged not connected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Overview labels it source-reported only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26280" y="11887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Conclusion: M07 is a bug-triage case</a:t>
            </a:r>
            <a:endParaRPr lang="en-US" sz="1600" dirty="0"/>
          </a:p>
        </p:txBody>
      </p:sp>
      <p:sp>
        <p:nvSpPr>
          <p:cNvPr id="7" name="M07 analysis drawer screenshot frame"/>
          <p:cNvSpPr/>
          <p:nvPr/>
        </p:nvSpPr>
        <p:spPr>
          <a:xfrm>
            <a:off x="4471416" y="1591056"/>
            <a:ext cx="4270248" cy="2468880"/>
          </a:xfrm>
          <a:prstGeom prst="roundRect">
            <a:avLst>
              <a:gd name="adj" fmla="val 296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M07 analysis drawer screenshot" descr="M07 analysis drawer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645920"/>
            <a:ext cx="4160520" cy="235915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26280" y="41605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Evidence: M07 turn 23 (00:17:50), Mark as Paid keeps the previous amount. Routed to Customer Success; analysis flagged stale after Rev 2.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Replay test: counts stay true</a:t>
            </a:r>
            <a:endParaRPr lang="en-US" sz="3200" dirty="0"/>
          </a:p>
        </p:txBody>
      </p:sp>
      <p:sp>
        <p:nvSpPr>
          <p:cNvPr id="3" name="Import replay steps screenshot frame"/>
          <p:cNvSpPr/>
          <p:nvPr/>
        </p:nvSpPr>
        <p:spPr>
          <a:xfrm>
            <a:off x="402336" y="1088136"/>
            <a:ext cx="8339328" cy="2578608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Import replay steps screenshot" descr="Import replay step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229600" cy="2468880"/>
          </a:xfrm>
          <a:prstGeom prst="rect">
            <a:avLst/>
          </a:prstGeom>
        </p:spPr>
      </p:pic>
      <p:sp>
        <p:nvSpPr>
          <p:cNvPr id="5" name="Result 1 card"/>
          <p:cNvSpPr/>
          <p:nvPr/>
        </p:nvSpPr>
        <p:spPr>
          <a:xfrm>
            <a:off x="457200" y="3886200"/>
            <a:ext cx="192024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392277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44 to 44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4251960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Re-importing Rev 1 ignores all records</a:t>
            </a:r>
            <a:endParaRPr lang="en-US" sz="1100" dirty="0"/>
          </a:p>
        </p:txBody>
      </p:sp>
      <p:sp>
        <p:nvSpPr>
          <p:cNvPr id="8" name="Result 2 card"/>
          <p:cNvSpPr/>
          <p:nvPr/>
        </p:nvSpPr>
        <p:spPr>
          <a:xfrm>
            <a:off x="2560320" y="3886200"/>
            <a:ext cx="192024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70048" y="392277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17 to 18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2670048" y="4251960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Rev 2 adds M07's 27-turn transcript</a:t>
            </a:r>
            <a:endParaRPr lang="en-US" sz="1100" dirty="0"/>
          </a:p>
        </p:txBody>
      </p:sp>
      <p:sp>
        <p:nvSpPr>
          <p:cNvPr id="11" name="Result 3 card"/>
          <p:cNvSpPr/>
          <p:nvPr/>
        </p:nvSpPr>
        <p:spPr>
          <a:xfrm>
            <a:off x="4663440" y="3886200"/>
            <a:ext cx="192024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73168" y="392277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Kept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773168" y="4251960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M07 manual route survives the update</a:t>
            </a:r>
            <a:endParaRPr lang="en-US" sz="1100" dirty="0"/>
          </a:p>
        </p:txBody>
      </p:sp>
      <p:sp>
        <p:nvSpPr>
          <p:cNvPr id="14" name="Result 4 card"/>
          <p:cNvSpPr/>
          <p:nvPr/>
        </p:nvSpPr>
        <p:spPr>
          <a:xfrm>
            <a:off x="6766560" y="3886200"/>
            <a:ext cx="192024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76288" y="392277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No rollback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876288" y="4251960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Rev 1 again leaves M07 at Rev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Trade-offs, limits and next steps</a:t>
            </a:r>
            <a:endParaRPr lang="en-US" sz="3200" dirty="0"/>
          </a:p>
        </p:txBody>
      </p:sp>
      <p:sp>
        <p:nvSpPr>
          <p:cNvPr id="3" name="Trade-offs card"/>
          <p:cNvSpPr/>
          <p:nvPr/>
        </p:nvSpPr>
        <p:spPr>
          <a:xfrm>
            <a:off x="457200" y="1234440"/>
            <a:ext cx="3977640" cy="1508760"/>
          </a:xfrm>
          <a:prstGeom prst="roundRect">
            <a:avLst>
              <a:gd name="adj" fmla="val 60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441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Trade-offs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09928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Pre-generated analysis for 18 transcripts plus a keyword fallback: offline and testable, not live AI. Rejected a pipeline forecast and rep leaderboard to avoid invented totals.</a:t>
            </a:r>
            <a:endParaRPr lang="en-US" sz="1300" dirty="0"/>
          </a:p>
        </p:txBody>
      </p:sp>
      <p:sp>
        <p:nvSpPr>
          <p:cNvPr id="6" name="AI usage card"/>
          <p:cNvSpPr/>
          <p:nvPr/>
        </p:nvSpPr>
        <p:spPr>
          <a:xfrm>
            <a:off x="4709160" y="1234440"/>
            <a:ext cx="3977640" cy="1508760"/>
          </a:xfrm>
          <a:prstGeom prst="roundRect">
            <a:avLst>
              <a:gd name="adj" fmla="val 60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441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AI usage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09928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AI assistants helped with UI scaffolding, TypeScript types and test boilerplate. Every quote and count was checked against source records. About 7.5 hours spent.</a:t>
            </a:r>
            <a:endParaRPr lang="en-US" sz="1300" dirty="0"/>
          </a:p>
        </p:txBody>
      </p:sp>
      <p:sp>
        <p:nvSpPr>
          <p:cNvPr id="9" name="Known limits card"/>
          <p:cNvSpPr/>
          <p:nvPr/>
        </p:nvSpPr>
        <p:spPr>
          <a:xfrm>
            <a:off x="457200" y="2926080"/>
            <a:ext cx="3977640" cy="1508760"/>
          </a:xfrm>
          <a:prstGeom prst="roundRect">
            <a:avLst>
              <a:gd name="adj" fmla="val 60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0358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Known limits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01568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Single-day extract (21 August 2026). Audio links are placeholders, so no playback. No CRM integration.</a:t>
            </a:r>
            <a:endParaRPr lang="en-US" sz="1300" dirty="0"/>
          </a:p>
        </p:txBody>
      </p:sp>
      <p:sp>
        <p:nvSpPr>
          <p:cNvPr id="12" name="Next card"/>
          <p:cNvSpPr/>
          <p:nvPr/>
        </p:nvSpPr>
        <p:spPr>
          <a:xfrm>
            <a:off x="4709160" y="2926080"/>
            <a:ext cx="3977640" cy="1508760"/>
          </a:xfrm>
          <a:prstGeom prst="roundRect">
            <a:avLst>
              <a:gd name="adj" fmla="val 60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0358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Next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401568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Live call webhook with speech-to-text, two-way CRM sync, and role-based access for coaching versus executive views.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ndNest">
  <a:themeElements>
    <a:clrScheme name="SpendNest">
      <a:dk1>
        <a:srgbClr val="1B1F4B"/>
      </a:dk1>
      <a:lt1>
        <a:srgbClr val="FFFFFF"/>
      </a:lt1>
      <a:dk2>
        <a:srgbClr val="2B3070"/>
      </a:dk2>
      <a:lt2>
        <a:srgbClr val="EEF0FB"/>
      </a:lt2>
      <a:accent1>
        <a:srgbClr val="4F46E5"/>
      </a:accent1>
      <a:accent2>
        <a:srgbClr val="10B981"/>
      </a:accent2>
      <a:accent3>
        <a:srgbClr val="D97706"/>
      </a:accent3>
      <a:accent4>
        <a:srgbClr val="E11D48"/>
      </a:accent4>
      <a:accent5>
        <a:srgbClr val="7C3AED"/>
      </a:accent5>
      <a:accent6>
        <a:srgbClr val="64748B"/>
      </a:accent6>
      <a:hlink>
        <a:srgbClr val="4F46E5"/>
      </a:hlink>
      <a:folHlink>
        <a:srgbClr val="7C3AED"/>
      </a:folHlink>
    </a:clrScheme>
    <a:fontScheme name="SpendNe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SpendNest Revenue Intelligence Inbox</dc:title>
  <dc:subject>PptxGenJS Presentation</dc:subject>
  <dc:creator>PptxGenJS</dc:creator>
  <cp:lastModifiedBy>PptxGenJS</cp:lastModifiedBy>
  <cp:revision>1</cp:revision>
  <dcterms:created xsi:type="dcterms:W3CDTF">2026-10-23T08:18:10Z</dcterms:created>
  <dcterms:modified xsi:type="dcterms:W3CDTF">2026-10-23T08:18:10Z</dcterms:modified>
</cp:coreProperties>
</file>